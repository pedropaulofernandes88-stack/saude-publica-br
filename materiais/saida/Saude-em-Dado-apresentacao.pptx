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de 20 minutos. Objetivo declarado: colaboração científica. Abrir pelo achado, não pela ferramenta.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falar da plataforma ainda. Estabelecer que o problema é reprodutibilidade, não disponibilidade.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central: a correlação é positiva e sobrevive a todos os controles. Preparar o teste decisivo do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que sustenta a apresentação inteira. Deixar o público ler a tabela antes de falar.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está a consequência de política pública. É o momento de pausar.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Achado irmão do primeiro: os dois lados da equação medem característica do município.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suavizar. O valor está em ter testado a fundo, reportado o nulo E documentado a armadilha que qualquer um encontraria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 zero é a informação que costuma surpreender. Não vender: apenas registrar que a barreira não é orçamento.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metodológico transferível: qualquer análise escalada por população herda o erro do denominador.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houver pergunta sobre método estatístico, é aqui que ela vem.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que reprova o próprio autor. É o slide que demonstra cultura de validação.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como tese metodológica, não como confissão. É evidência de cultura de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Ligar com a pergunta de revisão da fonte, que interessa a quem trabalha com dado preliminar.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Declarar os limites antes que perguntem. Constrói credibilidade com público sênior.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primeiro cartão é o gancho para vacinologia. Deixar claro que ainda não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único slide que muda se o objetivo da conversa mudar. Fazer a pergunta e calar.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EM DADO</a:t>
            </a:r>
            <a:pPr indent="0" marL="0">
              <a:buNone/>
            </a:pPr>
            <a:r>
              <a:rPr lang="en-US" sz="1100" b="1" spc="160" kern="0" dirty="0">
                <a:solidFill>
                  <a:srgbClr val="94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saudeemdado.com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106344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leito que cria</a:t>
            </a:r>
            <a:endParaRPr lang="en-US" sz="52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internação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77240" y="3383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 aberta de indicadores do Sistema Único de Saúde — e três achados que contrariam a leitura corrente sobre atenção primária, com o método que os tornou possíveis.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457200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Paulo Fernandes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Mestrando em Saúde Coletiva · Instituto de Assistência Médica ao Servidor Público Estadual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Pós-graduando em Inteligência Artificial e Ciência de Dados em Saúde · Hospital Sírio-Libanês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de Tecnologia da Informação · Prefeitura de Penápolis · ORCID 0009-0008-6248-2486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4432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saudeemdado.com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F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804672"/>
            <a:ext cx="10634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microdado é público há décadas.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indicador reprodutível, não.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9326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Único de Saúde publica alguns dos maiores conjuntos de microdados de saúde abertos do mundo — mortalidade, internações hospitalares, agravos de notificação, nascidos vivos. Qualquer pessoa pode baixar.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0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quase ninguém consegue é sair do arquivo bruto para um indicador municipal interpretável, versionado, com intervalo de confiança e com procedência auditável — e repetir isso seis meses depois obtendo o mesmo número.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isso, cada grupo refaz o pipeline, cada refazimento produz um número ligeiramente diferente, e nenhum deles é conferível contra o outro.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4432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saudeemdado.com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F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1</a:t>
            </a:r>
            <a:pPr indent="0" marL="0">
              <a:buNone/>
            </a:pPr>
            <a:r>
              <a:rPr lang="en-US" sz="1100" b="1" spc="16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Sistema de Informações Hospitalares + Cadastro Nacional de Estabelecimentos de Saúde · 5.570 municípios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804672"/>
            <a:ext cx="10634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hipótese que a própria metodologia carregava — e que os dados derrubaram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9326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leitura corrente diz: onde faltam leitos, a internação eletiva desaparece e a fatia de internações por condições sensíveis à atenção primária sobe mecanicamente. Isso prevê menos leitos, mais internações sensíveis.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0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Medido, dá o contrário.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931920"/>
            <a:ext cx="2430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F4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+0,32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4663440"/>
            <a:ext cx="24300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bruta entre leitos por mil habitantes e proporção de internações sensíveis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35858" y="3931920"/>
            <a:ext cx="2430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F4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+0,34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35858" y="4663440"/>
            <a:ext cx="24300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controlando porte populacional e vulnerabilidade social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4476" y="3931920"/>
            <a:ext cx="2430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84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+0,16 a +0,47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4476" y="4663440"/>
            <a:ext cx="24300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cada quartil de porte — positiva nos quatro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53094" y="3931920"/>
            <a:ext cx="2430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84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17,8% vs 21,5%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753094" y="4663440"/>
            <a:ext cx="24300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proporção de internações sensíveis: sem leito local contra com leito local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4432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saudeemdado.com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F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1</a:t>
            </a:r>
            <a:pPr indent="0" marL="0">
              <a:buNone/>
            </a:pPr>
            <a:r>
              <a:rPr lang="en-US" sz="1100" b="1" spc="16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 teste decisivo: numerador ou denominador?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804672"/>
            <a:ext cx="10634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efeito está quase todo no numerador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106344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3108960"/>
                <a:gridCol w="304495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Quartil de porte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Oferta local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Internações sensíveis por 100 mil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Internações não sensíveis por 100 mil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leito → com leito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4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1.156 → 1.745   (+51%)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5.483 → 5.887   (+7%)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leito → com leito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4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961 → 1.782   (+85%)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5.145 → 5.728   (+11%)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leito → com leito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4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877 → 1.343   (+53%)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5.604 → 5.571   (−1%)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14800"/>
            <a:ext cx="10607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0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a eletiva que some por falta de leito — é a internação sensível que aparece quando há leito na cidade.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Pneumonia, desidratação e descompensação de insuficiência cardíaca são exatamente o que um hospital pequeno interna. Ressalva declarada em toda a saída: as internações são contadas por município de residência e os leitos por município do estabelecimento; sem leito significa sem oferta local, não sem acesso.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4432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saudeemdado.com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F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1</a:t>
            </a:r>
            <a:pPr indent="0" marL="0">
              <a:buNone/>
            </a:pPr>
            <a:r>
              <a:rPr lang="en-US" sz="1100" b="1" spc="16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implicação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804672"/>
            <a:ext cx="10634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Insumo e desfecho medem o município,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o desempenho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9692640" cy="1371600"/>
          </a:xfrm>
          <a:prstGeom prst="rect">
            <a:avLst/>
          </a:prstGeom>
          <a:solidFill>
            <a:srgbClr val="F8E9E2"/>
          </a:solidFill>
          <a:ln w="12700">
            <a:solidFill>
              <a:srgbClr val="F8E9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5176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i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município que abre um hospital pequeno vê sua proporção de internações sensíveis subir e, pela leitura convencional — internação sensível alta significa atenção básica fraca —, seria classificado como tendo piorado.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4206240"/>
            <a:ext cx="9692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oferta induzindo demanda, concentrada justamente nas internações discricionárias que o indicador se propõe a medir.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0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indicador não deixa de servir. Deixa de servir como ranking entre municípios de portes e ofertas diferentes.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4432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saudeemdado.com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F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2</a:t>
            </a:r>
            <a:pPr indent="0" marL="0">
              <a:buNone/>
            </a:pPr>
            <a:r>
              <a:rPr lang="en-US" sz="1100" b="1" spc="16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e-Gestor Atenção Básica · Secretaria de Atenção Primária à Saúde · competência 2024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804672"/>
            <a:ext cx="10634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cobertura potencial da atenção primária mede porte populacional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2430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B84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86,1%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4300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municípios com cobertura acima de 100% — mediana de 149,1% e máximo de 803,21%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35858" y="2194560"/>
            <a:ext cx="2430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F4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−0,54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35858" y="2926080"/>
            <a:ext cx="24300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com população: forte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4476" y="2194560"/>
            <a:ext cx="2430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F4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094476" y="2926080"/>
            <a:ext cx="24300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com internações sensíveis por 100 mil: bruta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53094" y="2194560"/>
            <a:ext cx="2430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F4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+0,017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753094" y="2926080"/>
            <a:ext cx="24300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parcial, controlando porte e vulnerabilidade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160520"/>
            <a:ext cx="10607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0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com menos de 10 mil habitantes têm ao mesmo tempo a maior cobertura mediana (167,1%) e a maior taxa de internações sensíveis — o oposto da hipótese de política pública.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Robustez: trocando percentual por densidade de equipes por 10 mil habitantes, e taxa por proporção sobre o total de internações do próprio município, comparando cada município apenas aos pares do seu quartil de porte, a correlação fica entre −0,02 e +0,18.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4432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saudeemdado.com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F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3</a:t>
            </a:r>
            <a:pPr indent="0" marL="0">
              <a:buNone/>
            </a:pPr>
            <a:r>
              <a:rPr lang="en-US" sz="1100" b="1" spc="16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equidade — resultado nulo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804672"/>
            <a:ext cx="10634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achado nulo que eu não queria encontrar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57400"/>
          <a:ext cx="1063447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517904"/>
                <a:gridCol w="1517904"/>
                <a:gridCol w="1517904"/>
                <a:gridCol w="1508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Quartil de vulnerabilidade social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 entre municípios — o que publico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Agregado, ponderado por internação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429000"/>
            <a:ext cx="10424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segunda linha sobe do menos para o mais vulnerável, nos quatro anos da série. Parece a desigualdade que a primeira não mostra — e não é.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quartil menos vulnerável concentra 59,7% das internações do país em 25,2% dos municípios: é onde estão as cidades grandes, e cidade grande tem proporção baixa. O agregado mede porte disfarçado de vulnerabilidade.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0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mesma faixa de porte o sinal troca de direção: ρ = −0,054 abaixo de 20 mil habitantes, +0,166 entre 20 e 100 mil. Paradoxo de Simpson. O resultado nulo se mantém — e publico as duas linhas, porque omitir a segunda não a impede de existir para quem baixar os dados.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4432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saudeemdado.com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F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</a:t>
            </a:r>
            <a:pPr indent="0" marL="0">
              <a:buNone/>
            </a:pPr>
            <a:r>
              <a:rPr lang="en-US" sz="1100" b="1" spc="16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consequência dos achados, não vitrine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804672"/>
            <a:ext cx="10634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achados só existem porque a base é reprodutível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31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F4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3316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integradas: mortalidade, internações, agravos, nascidos vivos, vacinação, estabelecimentos e leitos, gasto público, cobertura da atenção primária, saúde suplementar e censo demográfico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22064" y="2194560"/>
            <a:ext cx="331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F4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5,33 milhões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322064" y="2926080"/>
            <a:ext cx="3316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linhas publicadas em 39 tabelas, somando 48,1 megabytes em formato colunar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6888" y="2194560"/>
            <a:ext cx="331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F4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866888" y="2926080"/>
            <a:ext cx="3316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custo de infraestrutura: opera inteiramente em camadas gratuitas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206240"/>
            <a:ext cx="10607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Mortalidade de 2015 a 2024 · internações hospitalares de 2022 a 2024 · dengue de 2015 a 2025 · nascimentos de 2021 a 2023. Cinco domínios aparecem na interface; as demais tabelas ficam na interface de programação e nos downloads.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0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agregado sob licença Creative Commons Atribuição 4.0, código sob licença do Instituto de Tecnologia de Massachusetts, resumo criptográfico de cada arquivo publicado e identificador digital de objeto 10.5281/zenodo.20706845.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 programação pública sem cadastro e servidor de contexto para modelos de linguagem publicado no repositório oficial de pacotes Python.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4432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saudeemdado.com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F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pPr indent="0" marL="0">
              <a:buNone/>
            </a:pPr>
            <a:r>
              <a:rPr lang="en-US" sz="1100" b="1" spc="16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excesso de mortalidade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804672"/>
            <a:ext cx="10634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baseline imune ao erro do denominador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10424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baseline usual — média histórica escalada pela razão populacional — herda todo erro da projeção de população. Foi trocado por tendência linear por mês civil ajustada ao período de 2015 a 2019, que capta envelhecimento e se apoia apenas nos óbitos observados.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50886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B84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505 mil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4023360"/>
            <a:ext cx="50886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excesso pandêmico estimado pela variante padronizada por idade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4476" y="3291840"/>
            <a:ext cx="50886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F4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643 mil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094476" y="4023360"/>
            <a:ext cx="50886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 pelo método de tendência, que foi o retido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937760"/>
            <a:ext cx="10424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0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não é preferência de método.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projeção populacional de 2018 superestima a população e a série publicada após o Censo de 2022 introduz descontinuidade. A padronização por idade herda os dois problemas pelo denominador e subestima o excesso.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4432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saudeemdado.com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F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pPr indent="0" marL="0">
              <a:buNone/>
            </a:pPr>
            <a:r>
              <a:rPr lang="en-US" sz="1100" b="1" spc="16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razão de mortalidade hospitalar padronizada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804672"/>
            <a:ext cx="10634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Intervalo exato e correção para dez mil comparações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10424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indireta por faixa etária e capítulo da Classificação Internacional de Doenças, intervalo de 95% pelo método gama de Poisson, e correção da taxa de descobertas falsas para as comparações simultâneas entre hospitais.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331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F4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3316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 nacional nos três anos: o esperado bate com o observado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22064" y="3383280"/>
            <a:ext cx="331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F4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757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322064" y="4114800"/>
            <a:ext cx="3316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hospitais acima do esperado em 2024 após a correção — 16,0% do total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6888" y="3383280"/>
            <a:ext cx="331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B84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866888" y="4114800"/>
            <a:ext cx="3316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10.046 perdem significância com a correção: seriam apontados por acaso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120640"/>
            <a:ext cx="10424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0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 correção, 282 hospitais entrariam num relatório público como tendo mortalidade acima do esperado sem que houvesse evidência. Não é rigor decorativo: é a diferença entre acusar e medir.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4432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saudeemdado.com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F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pPr indent="0" marL="0">
              <a:buNone/>
            </a:pPr>
            <a:r>
              <a:rPr lang="en-US" sz="1100" b="1" spc="16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previsão de demanda hospitalar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804672"/>
            <a:ext cx="10634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validação reprovou o modelo que eu preferia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106344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2926080"/>
                <a:gridCol w="26791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escalonado do modelo publicado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dos modelos sazonais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do intervalo de 95%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mês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 a 1,11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4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 observada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meses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piores que o ingênuo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recalibrada empiricamente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meses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apesar de parecerem melhores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2,42 · 2,64 · 2,80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14800"/>
            <a:ext cx="10607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por origem móvel em 4.445 hospitais. Erro escalonado abaixo de 1 significa superar o modelo ingênuo sazonal calculado dentro do período de treino.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0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modelos sazonais pareciam melhores no agregado nacional e saíram piores por unidade. E o intervalo declarado como de 95% cobria de fato 85% — foi recalibrado empiricamente em vez de confiar na normalidade.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4432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saudeemdado.com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F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pPr indent="0" marL="0">
              <a:buNone/>
            </a:pPr>
            <a:r>
              <a:rPr lang="en-US" sz="1100" b="1" spc="16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integridade da coleta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804672"/>
            <a:ext cx="10634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defeito que a contagem de linhas não pega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10424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pipelines tratavam a falha de download como se a competência não existisse. Seis anos-unidade da federação entraram no ar incompletos, com código de saída zero e números plausíveis.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331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B84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−41%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3316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internações do Maranhão em 2023, publicadas a menos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22064" y="3200400"/>
            <a:ext cx="331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F4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+67,6%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322064" y="3931920"/>
            <a:ext cx="3316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aplicada na interface pública: de 293.243 para 491.355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6888" y="3200400"/>
            <a:ext cx="331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F4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459 de 459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866888" y="3931920"/>
            <a:ext cx="3316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idênticos ao refazer os 351 anos-unidade da federação do zero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892040"/>
            <a:ext cx="10424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0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de linhas não detecta corrupção — duplicata e ausência se cancelam no total. E o resumo criptográfico prova que o arquivo não mudou depois de escrito, não que foi escrito certo.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guarda que funciona é recarregar o dado num banco vazio e deixar a chave primária reclamar.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4432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saudeemdado.com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F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pPr indent="0" marL="0">
              <a:buNone/>
            </a:pPr>
            <a:r>
              <a:rPr lang="en-US" sz="1100" b="1" spc="16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proveniência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804672"/>
            <a:ext cx="10634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linhagem viaja dentro dos bytes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5157216" cy="182880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194560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arquivo se declara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3272" y="2761488"/>
            <a:ext cx="46451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colunar carrega, nos próprios metadados, quem o produziu e de qual versão da fonte veio. Um arquivo exportado do banco e um gerado pelo pipeline deixam de ser indistinguíveis.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4496" y="2011680"/>
            <a:ext cx="5157216" cy="182880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2194560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publicação é imutável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0528" y="2761488"/>
            <a:ext cx="46451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datada, com manifesto versionado e cópia histórica preservada. O histórico de publicações é a própria série de instantâneos.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114800"/>
            <a:ext cx="5157216" cy="182880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4297680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checkpoint se autoinvalida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33272" y="4864608"/>
            <a:ext cx="46451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Carimba de quais meses veio. Se a fonte for reescrita, ele deixa de servir sozinho na execução seguinte, em vez de ser reaproveitado indefinidamente.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54496" y="4114800"/>
            <a:ext cx="5157216" cy="182880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4297680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 quanto?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10528" y="4864608"/>
            <a:ext cx="46451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que nenhuma fonte pública responde hoje: o sistema oficial de tabulação entrega o número de hoje e não guarda memória do mês passado.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4432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saudeemdado.com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F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pPr indent="0" marL="0">
              <a:buNone/>
            </a:pPr>
            <a:r>
              <a:rPr lang="en-US" sz="1100" b="1" spc="16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declarados em toda a saída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804672"/>
            <a:ext cx="10634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plataforma não pode afirmar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b="1" dirty="0">
                <a:solidFill>
                  <a:srgbClr val="10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ecológico. </a:t>
            </a:r>
            <a:pPr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municipal não é efeito individual. Nenhum dos achados sustenta inferência sobre pessoas.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b="1" dirty="0">
                <a:solidFill>
                  <a:srgbClr val="10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diferentes nos dois lados. </a:t>
            </a:r>
            <a:pPr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internações são contadas por município de residência; os leitos, por município do estabelecimento.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b="1" dirty="0">
                <a:solidFill>
                  <a:srgbClr val="10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ano mais recente é preliminar </a:t>
            </a:r>
            <a:pPr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sujeito a revisão pelo Ministério da Saúde.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b="1" dirty="0">
                <a:solidFill>
                  <a:srgbClr val="10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índice de vulnerabilidade é aproximação </a:t>
            </a:r>
            <a:pPr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construída com dois indicadores do Censo de 2022 — não é o índice oficial do Instituto de Pesquisa Econômica Aplicada.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b="1" dirty="0">
                <a:solidFill>
                  <a:srgbClr val="10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classificação municipal por agrupamento está suspensa. </a:t>
            </a:r>
            <a:pPr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estabilidade foi medida — o índice de Rand ajustado ficou em 0,571 entre reamostragens — e a publicação foi congelada até ser substituída por estratificação determinística.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4432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saudeemdado.com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F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pPr indent="0" marL="0">
              <a:buNone/>
            </a:pPr>
            <a:r>
              <a:rPr lang="en-US" sz="1100" b="1" spc="16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convite, não promessa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804672"/>
            <a:ext cx="10634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está a um passo de existir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5157216" cy="182880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194560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Internações por causas imunizáveis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3272" y="2761488"/>
            <a:ext cx="46451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grupo de condições preveníveis por vacinação — coqueluche, difteria, tétano, sarampo, rubéola, hepatite B, caxumba, febre amarela, meningite e tuberculose — já está codificado no pipeline, mas ainda não é publicado em separado. Publicá-lo daria um desfecho populacional de impacto vacinal.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4496" y="2011680"/>
            <a:ext cx="5157216" cy="182880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2194560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para estudos individuais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0528" y="2761488"/>
            <a:ext cx="46451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municipais validados — mortalidade padronizada, internações sensíveis, oferta de leitos e gasto público — para situar coortes e interpretar heterogeneidade.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114800"/>
            <a:ext cx="5157216" cy="182880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4297680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Medir a revisão da fonte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33272" y="4864608"/>
            <a:ext cx="46451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um número preliminar ainda se move, por competência e unidade da federação. Hoje impossível em qualquer fonte pública brasileira.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54496" y="4114800"/>
            <a:ext cx="5157216" cy="182880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4297680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Vigilância de síndrome respiratória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10528" y="4864608"/>
            <a:ext cx="46451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 vigilância de síndrome respiratória aguda grave como próxima fonte. O boletim semanal já consome estimativa em tempo quase real de arboviroses.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pPr indent="0" marL="0">
              <a:buNone/>
            </a:pPr>
            <a:r>
              <a:rPr lang="en-US" sz="1100" b="1" spc="160" kern="0" dirty="0">
                <a:solidFill>
                  <a:srgbClr val="94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 pergunta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34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eu vim propor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9875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já entrega, hoje, um desfecho populacional validado e reprodutível para os 5.570 municípios brasileiros. O que ela não tem é a pergunta biológica.</a:t>
            </a:r>
            <a:endParaRPr lang="en-US" sz="1600" dirty="0"/>
          </a:p>
          <a:p>
            <a:pPr indent="0" marL="0">
              <a:lnSpc>
                <a:spcPts val="24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C9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Vejo três frentes onde isso encontra o seu trabalho: internação por doença prevenível por vacina como desfecho populacional de impacto vacinal; epidemiologia digital com procedência auditável para preparação a epidemias; e a camada de contexto municipal para estudos de sistemas que hoje têm amostra pequena e território pobre.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 pergunta é direta: alguma dessas frentes é útil ao que o seu grupo está fazendo — e, se for, qual delas você atacaria primeiro?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5852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saudeemdado.com   ·   pedropaulofernandes88@gmail.com   ·   ORCID 0009-0008-6248-2486   ·   dados sob Creative Commons Atribuição 4.0   ·   código sob licença MIT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leito que cria a internacao</dc:title>
  <dc:subject>Saude em Dado — plataforma aberta de indicadores do SUS</dc:subject>
  <dc:creator>Pedro Paulo Fernandes</dc:creator>
  <cp:lastModifiedBy>Pedro Paulo Fernandes</cp:lastModifiedBy>
  <cp:revision>1</cp:revision>
  <dcterms:created xsi:type="dcterms:W3CDTF">2026-09-01T17:02:45Z</dcterms:created>
  <dcterms:modified xsi:type="dcterms:W3CDTF">2026-09-01T17:02:45Z</dcterms:modified>
</cp:coreProperties>
</file>