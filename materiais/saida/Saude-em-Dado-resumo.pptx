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EM DADO</a:t>
            </a:r>
            <a:pPr indent="0" marL="0">
              <a:buNone/>
            </a:pPr>
            <a:r>
              <a:rPr lang="en-US" sz="1100" b="1" spc="160" kern="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saudeemdado.com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34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do SUS,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reprodutíveis e datados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337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fontes oficiais integradas em 39 tabelas públicas, com procedência gravada em cada arquivo e histórico imutável de publicações. Resumo de escopo, método, limites e frentes de colaboração.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o Dr. Helder Nakaya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Paulo Fernandes · Mestrando em Saúde Coletiva, IAMSPE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Pós-graduando em IA e Ciência de Dados em Saúde, Hospital Sírio-Libanês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 0009-0008-6248-2486 · pedropaulofernandes88@gmail.com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309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 · CC BY 4.0 · DOI 10.5281/zenodo.20706845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 que existe hoje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base nacional, aberta e conferível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607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Microdados oficiais do SUS transformados em indicadores municipais interpretáveis: taxas padronizadas por idade, intervalos de confiança, excesso de mortalidade, mortalidade hospitalar ajustada com correção para comparações múltiplas.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430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3465576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SIM, SIH, SINAN, SINASC, PNI/RNDS, CNES, SIOPS, e-Gestor AB, ANS, IBGE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35858" y="2788920"/>
            <a:ext cx="2430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35858" y="3465576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publicadas, 5,33 milhões de linhas em formato colunar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94476" y="2788920"/>
            <a:ext cx="2430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5.570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94476" y="3465576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municípios, todos, sem amostragem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53094" y="2788920"/>
            <a:ext cx="2430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4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753094" y="3465576"/>
            <a:ext cx="2430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infraestrutura — opera em camadas gratuitas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892040"/>
            <a:ext cx="10607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temporal: mortalidade 2015–2024 · internações 2021–2024 · dengue 2015–2025 · nascimentos 2021–2024 · vacinação 2023 até o mês passado.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309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 · CC BY 4.0 · DOI 10.5281/zenodo.20706845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 que sustenta os números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garantia não é a ausência de erro.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 mecanismo que o encontra.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3349752" cy="233172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22199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defeito real, achado e corrigido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14984" y="2788920"/>
            <a:ext cx="287426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coletor publicava competências incompletas com código de saída zero. O Maranhão de 2023 saiu com 41% das internações a menos. Corrigido, com 351 anos-UF refeitos da fonte: 459 de 459 checkpoints idênticos.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9600" y="2057400"/>
            <a:ext cx="3349752" cy="233172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7344" y="222199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Contagem de linhas não detecta corrupção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57344" y="2788920"/>
            <a:ext cx="287426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 e ausência se cancelam no total, e o checksum prova que o arquivo não mudou depois de escrito, não que foi escrito certo. A guarda que funciona é recarregar em banco vazio e deixar a chave primária reclamar.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1960" y="2057400"/>
            <a:ext cx="3349752" cy="233172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9704" y="222199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Linhagem dentro dos bytes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99704" y="2788920"/>
            <a:ext cx="287426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Parquet declara quem o produziu e de qual versão da fonte veio. Publicação datada e imutável: o próprio histórico constitui a série de instantâneos, e responde quanto um número preliminar ainda se moveu.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10607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inteiro é reconstruído do zero a cada alteração, em integração contínua: 213 instruções de esquema, 4,37 milhões de linhas em 37 tabelas, 51 segundos. 562 testes automatizados.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309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 · CC BY 4.0 · DOI 10.5281/zenodo.20706845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todos com desenho declarado e dado aberto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resultados, dois deles nulos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3349752" cy="25146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22199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leito cria a internação evitável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14984" y="2788920"/>
            <a:ext cx="287426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 SUS por mil × proporção de ICSAP: ρ = +0,32 bruta, +0,34 controlando porte e vulnerabilidade, positiva nos quatro quartis de porte. Municípios sem leito local têm proporção MENOR (17,8%) que os com leito (21,5%). O efeito está no numerador: ICSAP sobe 51–85% quando há leito; não-ICSAP, 1–11%.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9600" y="2057400"/>
            <a:ext cx="3349752" cy="25146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7344" y="222199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da atenção primária não explica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57344" y="2788920"/>
            <a:ext cx="287426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+0,002 com internações evitáveis por 100 mil; +0,017 controlando porte e vulnerabilidade. Testado em seis desenhos. A cobertura potencial satura acima de 100% em 86% dos municípios e correlaciona-se com população (ρ = −0,54): mede porte.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1960" y="2057400"/>
            <a:ext cx="3349752" cy="251460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9704" y="222199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 também não — e a armadilha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99704" y="2788920"/>
            <a:ext cx="287426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entre municípios: 19,1 / 21,1 / 20,6 / 19,8 por quartil de vulnerabilidade. O agregado ponderado por internação parece monotônico (18,1 → 23,7), mas é paradoxo de Simpson: o quartil menos vulnerável concentra 59,7% das internações. Dentro do porte, o sinal troca de direção.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892040"/>
            <a:ext cx="10607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Publico as duas leituras do terceiro com o mecanismo que as separa. Omitir a segunda não a impediria de existir para quem baixa a tabela.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309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 · CC BY 4.0 · DOI 10.5281/zenodo.20706845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declarados, não escondidos em rodapé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base NÃO pode afirmar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607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individual.</a:t>
            </a:r>
            <a:endParaRPr lang="en-US" sz="1350" dirty="0"/>
          </a:p>
          <a:p>
            <a:pPr indent="0" marL="0">
              <a:lnSpc>
                <a:spcPts val="205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é agregado municipal. Não há vinculação de registros, nem meio de fazê-la: o banco recebe apenas contagens por município, período e categoria.</a:t>
            </a:r>
            <a:endParaRPr lang="en-US" sz="1350" dirty="0"/>
          </a:p>
          <a:p>
            <a:pPr indent="0" marL="0">
              <a:lnSpc>
                <a:spcPts val="205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molecular.</a:t>
            </a:r>
            <a:endParaRPr lang="en-US" sz="1350" dirty="0"/>
          </a:p>
          <a:p>
            <a:pPr indent="0" marL="0">
              <a:lnSpc>
                <a:spcPts val="205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dado administrativo do sistema de saúde. Não substitui coorte nem fenotipagem.</a:t>
            </a:r>
            <a:endParaRPr lang="en-US" sz="1350" dirty="0"/>
          </a:p>
          <a:p>
            <a:pPr indent="0" marL="0">
              <a:lnSpc>
                <a:spcPts val="205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desenho é ecológico.</a:t>
            </a:r>
            <a:endParaRPr lang="en-US" sz="1350" dirty="0"/>
          </a:p>
          <a:p>
            <a:pPr indent="0" marL="0">
              <a:lnSpc>
                <a:spcPts val="205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municipal não implica efeito individual. Nenhum achado sustenta inferência sobre pessoas.</a:t>
            </a:r>
            <a:endParaRPr lang="en-US" sz="1350" dirty="0"/>
          </a:p>
          <a:p>
            <a:pPr indent="0" marL="0">
              <a:lnSpc>
                <a:spcPts val="205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0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vacinal municipal não é publicável — testada e reprovada.</a:t>
            </a:r>
            <a:endParaRPr lang="en-US" sz="1350" dirty="0"/>
          </a:p>
          <a:p>
            <a:pPr indent="0" marL="0">
              <a:lnSpc>
                <a:spcPts val="205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0,591 entre dois anos consecutivos, e cobertura mediana caindo de 102,7% nos municípios com 50 a 100 nascidos para 86,2% nos com mais de 5 mil: viés sistemático de denominador. A hipótese de descasamento geográfico foi medida e refutada (ρ = +0,002). Publico contagem de doses por município, e cobertura apenas por unidade da federação.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309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 · CC BY 4.0 · DOI 10.5281/zenodo.20706845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três frentes concretas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 base encontra a pesquisa em imunologia de sistemas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3349752" cy="269748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17627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O elo populacional do impacto vacinal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14984" y="2743200"/>
            <a:ext cx="287426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vacinologia de sistemas prediz resposta individual — assinatura precoce, título de anticorpo. Falta o desfecho populacional. A base tem 638 milhões de doses aplicadas (2023 a agosto de 2026, por município, imunobiológico, dose, idade, sexo e raça) e internações por doença imunoprevenível — grupo 1 da Lista Brasileira, 38.535 em 2024, por município e ano.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9600" y="2011680"/>
            <a:ext cx="3349752" cy="269748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7344" y="217627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Camada de contexto para coortes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57344" y="2743200"/>
            <a:ext cx="287426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 de imunologia têm N de dezenas a centenas, de um ou dois centros, e a heterogeneidade de resposta fica sem explicação territorial. A base oferece contexto municipal validado: mortalidade padronizada, internações evitáveis, oferta de leitos, gasto público em saúde, vulnerabilidade social e cobertura da atenção primária.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1960" y="2011680"/>
            <a:ext cx="3349752" cy="269748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9704" y="217627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Epidemiologia digital com procedência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99704" y="2743200"/>
            <a:ext cx="287426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 corrente — vacinação com um mês de defasagem, arboviroses com nowcasting semanal — somada a histórico datado e imutável. Permite responder quanto um número preliminar ainda se move por competência e unidade da federação, o que nenhuma fonte pública brasileira responde hoje.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432" y="6309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saudeemdado.com · CC BY 4.0 · DOI 10.5281/zenodo.20706845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F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pPr indent="0" marL="0">
              <a:buNone/>
            </a:pPr>
            <a:r>
              <a:rPr lang="en-US" sz="1100" b="1" spc="16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sem cadastro, sem custo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usar, verificar e citar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3349752" cy="192024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17627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pública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14984" y="2743200"/>
            <a:ext cx="28742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PostgREST sobre as 39 tabelas, sem cadastro, com filtros por município, ano, causa e faixa etária. Chave pública de leitura documentada em saudeemdado.com/dados.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9600" y="2011680"/>
            <a:ext cx="3349752" cy="192024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7344" y="217627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Arquivos e checksum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57344" y="2743200"/>
            <a:ext cx="28742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por tabela, com SHA-256 e histórico datado de cada publicação. Permite refazer qualquer número e comparar versões ao longo do tempo.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1960" y="2011680"/>
            <a:ext cx="3349752" cy="192024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9704" y="2176272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MCP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99704" y="2743200"/>
            <a:ext cx="28742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nativo por modelo de linguagem, com regra anti-alucinação: todo número retorna com a fonte. Instalável a partir do PyPI, roda na máquina do usuário.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187952"/>
            <a:ext cx="3349752" cy="192024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4352544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aberta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14984" y="4919472"/>
            <a:ext cx="28742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e três seções com âncora permanente por seção, incluindo os achados nulos e as limitações. Código sob licença MIT, dados sob CC BY 4.0.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19600" y="4187952"/>
            <a:ext cx="3349752" cy="192024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7344" y="4352544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Citável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57344" y="4919472"/>
            <a:ext cx="28742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de conceito versionado no Zenodo: 10.5281/zenodo.20706845. Cada publicação datada mantém sua cópia imutável.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61960" y="4187952"/>
            <a:ext cx="3349752" cy="192024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9704" y="4352544"/>
            <a:ext cx="2874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Contato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99704" y="4919472"/>
            <a:ext cx="28742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Paulo Fernandes · pedropaulofernandes88@gmail.com · ORCID 0009-0008-6248-2486 · repositório aberto no GitHub.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Saude em Dado — resumo</dc:title>
  <dc:subject>Plataforma aberta de indicadores do SUS: escopo, metodo, limites e frentes de colaboracao</dc:subject>
  <dc:creator>Pedro Paulo Fernandes</dc:creator>
  <cp:lastModifiedBy>Pedro Paulo Fernandes</cp:lastModifiedBy>
  <cp:revision>1</cp:revision>
  <dcterms:created xsi:type="dcterms:W3CDTF">2026-09-01T17:02:46Z</dcterms:created>
  <dcterms:modified xsi:type="dcterms:W3CDTF">2026-09-01T17:02:46Z</dcterms:modified>
</cp:coreProperties>
</file>